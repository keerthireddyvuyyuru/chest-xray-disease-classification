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9" r:id="rId6"/>
    <p:sldId id="263" r:id="rId7"/>
    <p:sldId id="264" r:id="rId8"/>
    <p:sldId id="270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76" r:id="rId17"/>
    <p:sldId id="267" r:id="rId18"/>
    <p:sldId id="268" r:id="rId19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D1F"/>
    <a:srgbClr val="EFEDE3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1CF8F-4E6A-4D1A-8B88-D8EB9385889C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06384-3B69-45C4-B6DE-481872579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05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awsifurrahman/covid19-radiography-database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 txBox="1">
            <a:spLocks noGrp="1"/>
          </p:cNvSpPr>
          <p:nvPr>
            <p:ph type="ctrTitle"/>
          </p:nvPr>
        </p:nvSpPr>
        <p:spPr>
          <a:xfrm>
            <a:off x="1572768" y="0"/>
            <a:ext cx="9079992" cy="3611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Multi-Class Chest X-Ray Disease Classification Using </a:t>
            </a:r>
            <a:r>
              <a:rPr lang="en-US" sz="4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sz="4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RepViT</a:t>
            </a:r>
            <a:endParaRPr lang="en-US" sz="4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05472" y="4626864"/>
            <a:ext cx="6108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/>
              <a:t>V.Sri</a:t>
            </a:r>
            <a:r>
              <a:rPr lang="en-IN" dirty="0"/>
              <a:t> </a:t>
            </a:r>
            <a:r>
              <a:rPr lang="en-IN" dirty="0" err="1" smtClean="0"/>
              <a:t>lakshmi</a:t>
            </a:r>
            <a:r>
              <a:rPr lang="en-IN" dirty="0" smtClean="0"/>
              <a:t> </a:t>
            </a:r>
            <a:r>
              <a:rPr lang="en-IN" dirty="0" err="1"/>
              <a:t>k</a:t>
            </a:r>
            <a:r>
              <a:rPr lang="en-IN" dirty="0" err="1" smtClean="0"/>
              <a:t>eerthi</a:t>
            </a:r>
            <a:r>
              <a:rPr lang="en-IN" dirty="0" smtClean="0"/>
              <a:t>(23761A1266</a:t>
            </a:r>
            <a:r>
              <a:rPr lang="en-IN" dirty="0"/>
              <a:t>) </a:t>
            </a:r>
            <a:r>
              <a:rPr lang="en-IN" dirty="0" err="1"/>
              <a:t>P.Niveditha</a:t>
            </a:r>
            <a:r>
              <a:rPr lang="en-IN" dirty="0"/>
              <a:t>(23761A1240</a:t>
            </a:r>
            <a:r>
              <a:rPr lang="en-IN" dirty="0" smtClean="0"/>
              <a:t>)</a:t>
            </a:r>
          </a:p>
          <a:p>
            <a:r>
              <a:rPr lang="en-IN" dirty="0" smtClean="0"/>
              <a:t> </a:t>
            </a:r>
            <a:r>
              <a:rPr lang="en-IN" dirty="0" err="1"/>
              <a:t>V.Uma</a:t>
            </a:r>
            <a:r>
              <a:rPr lang="en-IN" dirty="0"/>
              <a:t> </a:t>
            </a:r>
            <a:r>
              <a:rPr lang="en-IN" dirty="0" err="1"/>
              <a:t>maheswara</a:t>
            </a:r>
            <a:r>
              <a:rPr lang="en-IN" dirty="0"/>
              <a:t> </a:t>
            </a:r>
            <a:r>
              <a:rPr lang="en-IN" dirty="0" err="1"/>
              <a:t>rao</a:t>
            </a:r>
            <a:r>
              <a:rPr lang="en-IN" dirty="0"/>
              <a:t>(23761A1265)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01718" y="4307038"/>
            <a:ext cx="30148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Under the Guidance of </a:t>
            </a:r>
            <a:r>
              <a:rPr lang="en-US" dirty="0" smtClean="0"/>
              <a:t>,</a:t>
            </a:r>
          </a:p>
          <a:p>
            <a:r>
              <a:rPr lang="en-US" dirty="0" smtClean="0"/>
              <a:t>Mr</a:t>
            </a:r>
            <a:r>
              <a:rPr lang="en-US" dirty="0"/>
              <a:t>. K. </a:t>
            </a:r>
            <a:r>
              <a:rPr lang="en-US" dirty="0" err="1"/>
              <a:t>Rajasekhar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Sr</a:t>
            </a:r>
            <a:r>
              <a:rPr lang="en-US" dirty="0"/>
              <a:t>. </a:t>
            </a:r>
            <a:r>
              <a:rPr lang="en-US" dirty="0" err="1"/>
              <a:t>Asst</a:t>
            </a:r>
            <a:r>
              <a:rPr lang="en-US" dirty="0"/>
              <a:t> Professor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8F6BE8-92CE-489D-13FB-870693E9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2D973F-DF91-4FB4-6A1C-8D800FDD0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864" y="1602297"/>
            <a:ext cx="8631936" cy="4652199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1873A-4F6E-89C7-4DF0-54DF78D8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42" y="748836"/>
            <a:ext cx="9714451" cy="93851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51542" y="2002502"/>
            <a:ext cx="1077106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widely used to diagnose respiratory diseases, but manual diagnosis is time-consuming and depends on expert radiologists. This project proposes an explainable multiclass deep learning framework using U-Net for lung segmentation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extraction. The system classifies chest X-rays into Normal,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Viral Pneumonia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COVID-19,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Lung Opacity.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provides visual explanations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predictions.</a:t>
            </a:r>
          </a:p>
        </p:txBody>
      </p:sp>
    </p:spTree>
    <p:extLst>
      <p:ext uri="{BB962C8B-B14F-4D97-AF65-F5344CB8AC3E}">
        <p14:creationId xmlns:p14="http://schemas.microsoft.com/office/powerpoint/2010/main" val="31936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F9BDD4-1BCF-5F9F-5DD2-214FCB12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246888"/>
            <a:ext cx="9601200" cy="1485900"/>
          </a:xfrm>
        </p:spPr>
        <p:txBody>
          <a:bodyPr>
            <a:normAutofit/>
          </a:bodyPr>
          <a:lstStyle/>
          <a:p>
            <a:r>
              <a:rPr lang="en-IN" sz="3200" dirty="0"/>
              <a:t>Literature Survey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649410"/>
              </p:ext>
            </p:extLst>
          </p:nvPr>
        </p:nvGraphicFramePr>
        <p:xfrm>
          <a:off x="795527" y="1152144"/>
          <a:ext cx="11091673" cy="5414487"/>
        </p:xfrm>
        <a:graphic>
          <a:graphicData uri="http://schemas.openxmlformats.org/drawingml/2006/table">
            <a:tbl>
              <a:tblPr firstRow="1" bandRow="1"/>
              <a:tblGrid>
                <a:gridCol w="1839974"/>
                <a:gridCol w="1528992"/>
                <a:gridCol w="1166181"/>
                <a:gridCol w="1749271"/>
                <a:gridCol w="1762227"/>
                <a:gridCol w="1684484"/>
                <a:gridCol w="1360544"/>
              </a:tblGrid>
              <a:tr h="1140707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 of the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 of the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7378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decision support framework for automated pneumonia classification from chest X-ray images using hybrid vision transformers and CNNs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MSAF-Net and DAR-Net, combining CNN and Vision Transformer with attention-based feature fusion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CNN and Transformer features; improves feature discrimination; reduces model complexity; DAR-Net achieved 81.75% balanced accuracy and 0.9521 AUC.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DAR-Net has high computational requirements and the study lacks extensive ablation of basic hybrid models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5,200 chest X-ray images containing COVID-19, lung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opacity,Normal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Pneumonia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Intelligence-Based Medicine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76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85093"/>
              </p:ext>
            </p:extLst>
          </p:nvPr>
        </p:nvGraphicFramePr>
        <p:xfrm>
          <a:off x="1280158" y="1118215"/>
          <a:ext cx="10552178" cy="5630058"/>
        </p:xfrm>
        <a:graphic>
          <a:graphicData uri="http://schemas.openxmlformats.org/drawingml/2006/table">
            <a:tbl>
              <a:tblPr firstRow="1" bandRow="1"/>
              <a:tblGrid>
                <a:gridCol w="1507454"/>
                <a:gridCol w="1507454"/>
                <a:gridCol w="1507454"/>
                <a:gridCol w="1507454"/>
                <a:gridCol w="1507454"/>
                <a:gridCol w="1507454"/>
                <a:gridCol w="1507454"/>
              </a:tblGrid>
              <a:tr h="2575173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pneumonia diagnosis with high-accuracy CNN-Based chest X-ray image classification and integrated gradient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InceptionV3-based CNN with Integrated Gradients for </a:t>
                      </a:r>
                      <a:r>
                        <a:rPr lang="en-US" sz="14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high classification accuracy and visual explanation of important image regions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 and a relatively large model with 22.9 million trainable parameters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5,856 chest X-ray images containing Normal and Pneumonia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Biomedical Signal Processing and Control 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054885">
                <a:tc>
                  <a:txBody>
                    <a:bodyPr/>
                    <a:lstStyle/>
                    <a:p>
                      <a:r>
                        <a:rPr lang="en-IN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pneumonia prognosis via a hybrid deep learning ensemble: Dense Net, Efficient Net, and VGG16 integration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VGG16, InceptionV3, Bayesian Optimization and Particle Swarm Optimization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 improves performance and BO-PSO provides optimized </a:t>
                      </a:r>
                      <a:r>
                        <a:rPr lang="en-US" sz="14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hyperparameters</a:t>
                      </a:r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achieved 99.23% accuracy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 and increased computational complexity due to ensemble and optimization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5,856 chest X-ray images containing Normal and Pneumonia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Biology and Chemistry 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19825"/>
              </p:ext>
            </p:extLst>
          </p:nvPr>
        </p:nvGraphicFramePr>
        <p:xfrm>
          <a:off x="1271015" y="292609"/>
          <a:ext cx="10561321" cy="813815"/>
        </p:xfrm>
        <a:graphic>
          <a:graphicData uri="http://schemas.openxmlformats.org/drawingml/2006/table">
            <a:tbl>
              <a:tblPr firstRow="1" bandRow="1"/>
              <a:tblGrid>
                <a:gridCol w="1527049"/>
                <a:gridCol w="1490472"/>
                <a:gridCol w="1527048"/>
                <a:gridCol w="1499616"/>
                <a:gridCol w="1499616"/>
                <a:gridCol w="1508760"/>
                <a:gridCol w="1508760"/>
              </a:tblGrid>
              <a:tr h="813815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 of the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 of the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45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17AD97-F954-A98F-9146-22B1B449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530172"/>
            <a:ext cx="10424160" cy="568774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b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uses hybrid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CNN models, namely MSAF-Net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EfficientNetB0) and DAR-Net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ResNet50), to classify chest X-ray images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66278" y="8285949"/>
            <a:ext cx="530915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0120" y="2792961"/>
            <a:ext cx="4334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1192" y="3726591"/>
            <a:ext cx="63791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explicit lung-region segmentation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hybrid </a:t>
            </a:r>
            <a:r>
              <a:rPr kumimoji="0" 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2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20C2C5-DC80-0DB5-4718-E8165216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144" y="871710"/>
            <a:ext cx="5468257" cy="260301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99337" y="1594308"/>
            <a:ext cx="1111646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</a:t>
            </a:r>
            <a:r>
              <a:rPr kumimoji="0" 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U-Net to segment the lung region from the chest X-ray image.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segmented image is processed by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RepViT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extract complementary deep features.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features are fused and classified into Normal, Viral Pneumonia,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and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Lung Opacity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Dense classifier.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generates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explain the model's predictions.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63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08760" y="2154889"/>
            <a:ext cx="709123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multiclass disease classification.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U-Net for lung region segmentation.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RepViT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feature extraction.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predictions using Grad-CAM. </a:t>
            </a:r>
          </a:p>
        </p:txBody>
      </p:sp>
    </p:spTree>
    <p:extLst>
      <p:ext uri="{BB962C8B-B14F-4D97-AF65-F5344CB8AC3E}">
        <p14:creationId xmlns:p14="http://schemas.microsoft.com/office/powerpoint/2010/main" val="190552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045949" y="233019"/>
            <a:ext cx="49629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1. Chest X-ray dataset"/>
          <p:cNvSpPr/>
          <p:nvPr/>
        </p:nvSpPr>
        <p:spPr>
          <a:xfrm>
            <a:off x="1005840" y="173736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9AAA3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2B2B25"/>
                </a:solidFill>
                <a:latin typeface="Times New Roman"/>
                <a:cs typeface="Times New Roman"/>
              </a:rPr>
              <a:t>1. Chest X-ray dataset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6B6C65"/>
                </a:solidFill>
                <a:latin typeface="Times New Roman"/>
                <a:cs typeface="Times New Roman"/>
              </a:rPr>
              <a:t>4 classes</a:t>
            </a:r>
          </a:p>
        </p:txBody>
      </p:sp>
      <p:sp>
        <p:nvSpPr>
          <p:cNvPr id="302" name="2. Preprocessing"/>
          <p:cNvSpPr/>
          <p:nvPr/>
        </p:nvSpPr>
        <p:spPr>
          <a:xfrm>
            <a:off x="4663440" y="173736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9AAA3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2B2B25"/>
                </a:solidFill>
                <a:latin typeface="Times New Roman"/>
                <a:cs typeface="Times New Roman"/>
              </a:rPr>
              <a:t>2. Preprocessing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6B6C65"/>
                </a:solidFill>
                <a:latin typeface="Times New Roman"/>
                <a:cs typeface="Times New Roman"/>
              </a:rPr>
              <a:t>Resize + normalize</a:t>
            </a:r>
          </a:p>
        </p:txBody>
      </p:sp>
      <p:sp>
        <p:nvSpPr>
          <p:cNvPr id="303" name="3. U-Net segmentation"/>
          <p:cNvSpPr/>
          <p:nvPr/>
        </p:nvSpPr>
        <p:spPr>
          <a:xfrm>
            <a:off x="8321040" y="173736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3E2F8F"/>
                </a:solidFill>
                <a:latin typeface="Times New Roman"/>
                <a:cs typeface="Times New Roman"/>
              </a:rPr>
              <a:t>3. U-Net segmentation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5B4FB0"/>
                </a:solidFill>
                <a:latin typeface="Times New Roman"/>
                <a:cs typeface="Times New Roman"/>
              </a:rPr>
              <a:t>Lung region extraction</a:t>
            </a:r>
          </a:p>
        </p:txBody>
      </p:sp>
      <p:sp>
        <p:nvSpPr>
          <p:cNvPr id="304" name="4. ConvNeXt + RepViT"/>
          <p:cNvSpPr/>
          <p:nvPr/>
        </p:nvSpPr>
        <p:spPr>
          <a:xfrm>
            <a:off x="8321040" y="393192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3E2F8F"/>
                </a:solidFill>
                <a:latin typeface="Times New Roman"/>
                <a:cs typeface="Times New Roman"/>
              </a:rPr>
              <a:t>4. ConvNeXt + RepViT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5B4FB0"/>
                </a:solidFill>
                <a:latin typeface="Times New Roman"/>
                <a:cs typeface="Times New Roman"/>
              </a:rPr>
              <a:t>Feature extraction and fusion</a:t>
            </a:r>
          </a:p>
        </p:txBody>
      </p:sp>
      <p:sp>
        <p:nvSpPr>
          <p:cNvPr id="305" name="5. Classification"/>
          <p:cNvSpPr/>
          <p:nvPr/>
        </p:nvSpPr>
        <p:spPr>
          <a:xfrm>
            <a:off x="4663440" y="393192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3E2F8F"/>
                </a:solidFill>
                <a:latin typeface="Times New Roman"/>
                <a:cs typeface="Times New Roman"/>
              </a:rPr>
              <a:t>5. Classification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5B4FB0"/>
                </a:solidFill>
                <a:latin typeface="Times New Roman"/>
                <a:cs typeface="Times New Roman"/>
              </a:rPr>
              <a:t>4-class prediction</a:t>
            </a:r>
          </a:p>
        </p:txBody>
      </p:sp>
      <p:sp>
        <p:nvSpPr>
          <p:cNvPr id="306" name="6. Grad-CAM"/>
          <p:cNvSpPr/>
          <p:nvPr/>
        </p:nvSpPr>
        <p:spPr>
          <a:xfrm>
            <a:off x="1005840" y="393192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DFF3EA"/>
          </a:solidFill>
          <a:ln w="15875">
            <a:solidFill>
              <a:srgbClr val="5FB38F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b="1" dirty="0">
                <a:solidFill>
                  <a:srgbClr val="0F5F43"/>
                </a:solidFill>
                <a:latin typeface="Times New Roman"/>
                <a:cs typeface="Times New Roman"/>
              </a:rPr>
              <a:t>6. Grad-CAM</a:t>
            </a:r>
          </a:p>
          <a:p>
            <a:pPr algn="ctr">
              <a:spcBef>
                <a:spcPts val="300"/>
              </a:spcBef>
            </a:pPr>
            <a:r>
              <a:rPr lang="en-IN" sz="1500" dirty="0">
                <a:solidFill>
                  <a:srgbClr val="2E7D5F"/>
                </a:solidFill>
                <a:latin typeface="Times New Roman"/>
                <a:cs typeface="Times New Roman"/>
              </a:rPr>
              <a:t>Visual explanation</a:t>
            </a:r>
          </a:p>
        </p:txBody>
      </p:sp>
      <p:cxnSp>
        <p:nvCxnSpPr>
          <p:cNvPr id="307" name="1 to 2"/>
          <p:cNvCxnSpPr/>
          <p:nvPr/>
        </p:nvCxnSpPr>
        <p:spPr>
          <a:xfrm>
            <a:off x="4114800" y="2331720"/>
            <a:ext cx="5486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08" name="2 to 3"/>
          <p:cNvCxnSpPr/>
          <p:nvPr/>
        </p:nvCxnSpPr>
        <p:spPr>
          <a:xfrm>
            <a:off x="7772400" y="2331720"/>
            <a:ext cx="5486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09" name="3 to 4"/>
          <p:cNvCxnSpPr/>
          <p:nvPr/>
        </p:nvCxnSpPr>
        <p:spPr>
          <a:xfrm>
            <a:off x="9875520" y="2926080"/>
            <a:ext cx="0" cy="100584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10" name="4 to 5"/>
          <p:cNvCxnSpPr/>
          <p:nvPr/>
        </p:nvCxnSpPr>
        <p:spPr>
          <a:xfrm flipH="1">
            <a:off x="7772400" y="4526280"/>
            <a:ext cx="5486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11" name="5 to 6"/>
          <p:cNvCxnSpPr/>
          <p:nvPr/>
        </p:nvCxnSpPr>
        <p:spPr>
          <a:xfrm flipH="1">
            <a:off x="4114800" y="4526280"/>
            <a:ext cx="5486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8342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045949" y="233019"/>
            <a:ext cx="49629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" name="Dataset details"/>
          <p:cNvSpPr txBox="1"/>
          <p:nvPr/>
        </p:nvSpPr>
        <p:spPr>
          <a:xfrm>
            <a:off x="676656" y="1527048"/>
            <a:ext cx="10424160" cy="3200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endParaRPr lang="en-IN" sz="1400" dirty="0">
              <a:latin typeface="Times New Roman"/>
              <a:cs typeface="Times New Roman"/>
              <a:hlinkClick r:id="rId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7300" y="1025251"/>
            <a:ext cx="10867644" cy="431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IN" sz="2000" b="1" dirty="0">
                <a:solidFill>
                  <a:srgbClr val="191B0E"/>
                </a:solidFill>
                <a:latin typeface="Times New Roman"/>
                <a:cs typeface="Times New Roman"/>
              </a:rPr>
              <a:t>COVID-19 Radiography Database</a:t>
            </a:r>
          </a:p>
          <a:p>
            <a:pPr marL="285750" indent="-28575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A publicly available </a:t>
            </a:r>
            <a:r>
              <a:rPr lang="en-IN" sz="2000" dirty="0" err="1">
                <a:solidFill>
                  <a:srgbClr val="191B0E"/>
                </a:solidFill>
                <a:latin typeface="Times New Roman"/>
                <a:cs typeface="Times New Roman"/>
              </a:rPr>
              <a:t>Kaggle</a:t>
            </a: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 collection of chest X-ray images with ground-truth lung masks, used for COVID-19 and pneumonia classification with deep learning.</a:t>
            </a:r>
          </a:p>
          <a:p>
            <a:pPr>
              <a:spcBef>
                <a:spcPts val="900"/>
              </a:spcBef>
            </a:pPr>
            <a:r>
              <a:rPr lang="en-IN" sz="2000" b="1" dirty="0">
                <a:solidFill>
                  <a:srgbClr val="191B0E"/>
                </a:solidFill>
                <a:latin typeface="Times New Roman"/>
                <a:cs typeface="Times New Roman"/>
              </a:rPr>
              <a:t>Dataset Details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IN" sz="2000" b="1" dirty="0">
                <a:solidFill>
                  <a:srgbClr val="191B0E"/>
                </a:solidFill>
                <a:latin typeface="Times New Roman"/>
                <a:cs typeface="Times New Roman"/>
              </a:rPr>
              <a:t>Image Type: </a:t>
            </a: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Chest X-ray images (PNG, 299 × 299) with lung </a:t>
            </a:r>
            <a:r>
              <a:rPr lang="en-IN" sz="2000" dirty="0" smtClean="0">
                <a:solidFill>
                  <a:srgbClr val="191B0E"/>
                </a:solidFill>
                <a:latin typeface="Times New Roman"/>
                <a:cs typeface="Times New Roman"/>
              </a:rPr>
              <a:t>masks(256 x 256)</a:t>
            </a:r>
            <a:endParaRPr lang="en-IN" sz="2000" dirty="0">
              <a:solidFill>
                <a:srgbClr val="191B0E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IN" sz="2000" b="1" dirty="0">
                <a:solidFill>
                  <a:srgbClr val="191B0E"/>
                </a:solidFill>
                <a:latin typeface="Times New Roman"/>
                <a:cs typeface="Times New Roman"/>
              </a:rPr>
              <a:t>Total Images: </a:t>
            </a: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21,165 (balanced subset used: 5,380)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IN" sz="2000" b="1" dirty="0">
                <a:solidFill>
                  <a:srgbClr val="191B0E"/>
                </a:solidFill>
                <a:latin typeface="Times New Roman"/>
                <a:cs typeface="Times New Roman"/>
              </a:rPr>
              <a:t>Classes: </a:t>
            </a: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4</a:t>
            </a:r>
          </a:p>
          <a:p>
            <a:pPr marL="742950" lvl="1" indent="-285750">
              <a:spcBef>
                <a:spcPts val="300"/>
              </a:spcBef>
              <a:buFont typeface="Arial"/>
              <a:buChar char="•"/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Normal</a:t>
            </a:r>
          </a:p>
          <a:p>
            <a:pPr marL="742950" lvl="1" indent="-285750">
              <a:spcBef>
                <a:spcPts val="300"/>
              </a:spcBef>
              <a:buFont typeface="Arial"/>
              <a:buChar char="•"/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Covid-19</a:t>
            </a:r>
          </a:p>
          <a:p>
            <a:pPr marL="742950" lvl="1" indent="-285750">
              <a:spcBef>
                <a:spcPts val="300"/>
              </a:spcBef>
              <a:buFont typeface="Arial"/>
              <a:buChar char="•"/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Lung opacity</a:t>
            </a:r>
          </a:p>
          <a:p>
            <a:pPr marL="742950" lvl="1" indent="-285750">
              <a:spcBef>
                <a:spcPts val="300"/>
              </a:spcBef>
              <a:buFont typeface="Arial"/>
              <a:buChar char="•"/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Viral pneumonia</a:t>
            </a:r>
          </a:p>
          <a:p>
            <a:pPr>
              <a:spcBef>
                <a:spcPts val="700"/>
              </a:spcBef>
            </a:pPr>
            <a:r>
              <a:rPr lang="en-IN" sz="2000" dirty="0">
                <a:solidFill>
                  <a:srgbClr val="191B0E"/>
                </a:solidFill>
                <a:latin typeface="Times New Roman"/>
                <a:cs typeface="Times New Roman"/>
              </a:rPr>
              <a:t>Dataset link - </a:t>
            </a:r>
            <a:r>
              <a:rPr lang="en-IN" sz="2000" dirty="0">
                <a:latin typeface="Times New Roman"/>
                <a:cs typeface="Times New Roman"/>
                <a:hlinkClick r:id="rId2"/>
              </a:rPr>
              <a:t>https://www.kaggle.com/datasets/tawsifurrahman/covid19-radiography-database</a:t>
            </a:r>
          </a:p>
        </p:txBody>
      </p:sp>
    </p:spTree>
    <p:extLst>
      <p:ext uri="{BB962C8B-B14F-4D97-AF65-F5344CB8AC3E}">
        <p14:creationId xmlns:p14="http://schemas.microsoft.com/office/powerpoint/2010/main" val="176587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045949" y="233019"/>
            <a:ext cx="49629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Preprocess"/>
          <p:cNvSpPr/>
          <p:nvPr/>
        </p:nvSpPr>
        <p:spPr>
          <a:xfrm>
            <a:off x="1005840" y="164592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9AAA3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2B2B25"/>
                </a:solidFill>
                <a:latin typeface="Times New Roman"/>
                <a:cs typeface="Times New Roman"/>
              </a:rPr>
              <a:t>Preprocess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6B6C65"/>
                </a:solidFill>
                <a:latin typeface="Times New Roman"/>
                <a:cs typeface="Times New Roman"/>
              </a:rPr>
              <a:t>Resize 224 × 224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6B6C65"/>
                </a:solidFill>
                <a:latin typeface="Times New Roman"/>
                <a:cs typeface="Times New Roman"/>
              </a:rPr>
              <a:t>Normalize</a:t>
            </a:r>
          </a:p>
        </p:txBody>
      </p:sp>
      <p:sp>
        <p:nvSpPr>
          <p:cNvPr id="302" name="U-Net"/>
          <p:cNvSpPr/>
          <p:nvPr/>
        </p:nvSpPr>
        <p:spPr>
          <a:xfrm>
            <a:off x="3154680" y="164592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3E2F8F"/>
                </a:solidFill>
                <a:latin typeface="Times New Roman"/>
                <a:cs typeface="Times New Roman"/>
              </a:rPr>
              <a:t>U-Net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Lung segmentation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Dice 98.08%</a:t>
            </a:r>
          </a:p>
        </p:txBody>
      </p:sp>
      <p:sp>
        <p:nvSpPr>
          <p:cNvPr id="303" name="Dual Backbone"/>
          <p:cNvSpPr/>
          <p:nvPr/>
        </p:nvSpPr>
        <p:spPr>
          <a:xfrm>
            <a:off x="5303520" y="164592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3E2F8F"/>
                </a:solidFill>
                <a:latin typeface="Times New Roman"/>
                <a:cs typeface="Times New Roman"/>
              </a:rPr>
              <a:t>Dual Backbone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ConvNeXt-Tiny (768-d)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RepViT-M1 (384-d)</a:t>
            </a:r>
          </a:p>
        </p:txBody>
      </p:sp>
      <p:sp>
        <p:nvSpPr>
          <p:cNvPr id="304" name="Classifier"/>
          <p:cNvSpPr/>
          <p:nvPr/>
        </p:nvSpPr>
        <p:spPr>
          <a:xfrm>
            <a:off x="7452360" y="164592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EEEBFC"/>
          </a:solidFill>
          <a:ln w="15875">
            <a:solidFill>
              <a:srgbClr val="8A7FD6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3E2F8F"/>
                </a:solidFill>
                <a:latin typeface="Times New Roman"/>
                <a:cs typeface="Times New Roman"/>
              </a:rPr>
              <a:t>Classifier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Concat 1152-d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5B4FB0"/>
                </a:solidFill>
                <a:latin typeface="Times New Roman"/>
                <a:cs typeface="Times New Roman"/>
              </a:rPr>
              <a:t>Dense head, 4 classes</a:t>
            </a:r>
          </a:p>
        </p:txBody>
      </p:sp>
      <p:sp>
        <p:nvSpPr>
          <p:cNvPr id="305" name="Grad-CAM"/>
          <p:cNvSpPr/>
          <p:nvPr/>
        </p:nvSpPr>
        <p:spPr>
          <a:xfrm>
            <a:off x="9601200" y="164592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DFF3EA"/>
          </a:solidFill>
          <a:ln w="15875">
            <a:solidFill>
              <a:srgbClr val="5FB38F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0F5F43"/>
                </a:solidFill>
                <a:latin typeface="Times New Roman"/>
                <a:cs typeface="Times New Roman"/>
              </a:rPr>
              <a:t>Grad-CAM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2E7D5F"/>
                </a:solidFill>
                <a:latin typeface="Times New Roman"/>
                <a:cs typeface="Times New Roman"/>
              </a:rPr>
              <a:t>Lung heatmaps</a:t>
            </a:r>
          </a:p>
          <a:p>
            <a:pPr algn="ctr">
              <a:spcBef>
                <a:spcPts val="300"/>
              </a:spcBef>
            </a:pPr>
            <a:r>
              <a:rPr lang="en-IN" sz="1300" dirty="0">
                <a:solidFill>
                  <a:srgbClr val="2E7D5F"/>
                </a:solidFill>
                <a:latin typeface="Times New Roman"/>
                <a:cs typeface="Times New Roman"/>
              </a:rPr>
              <a:t>Explainability</a:t>
            </a:r>
          </a:p>
        </p:txBody>
      </p:sp>
      <p:cxnSp>
        <p:nvCxnSpPr>
          <p:cNvPr id="306" name="Arrow 1"/>
          <p:cNvCxnSpPr/>
          <p:nvPr/>
        </p:nvCxnSpPr>
        <p:spPr>
          <a:xfrm>
            <a:off x="2834640" y="2377440"/>
            <a:ext cx="3200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07" name="Arrow 2"/>
          <p:cNvCxnSpPr/>
          <p:nvPr/>
        </p:nvCxnSpPr>
        <p:spPr>
          <a:xfrm>
            <a:off x="4983480" y="2377440"/>
            <a:ext cx="3200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08" name="Arrow 3"/>
          <p:cNvCxnSpPr/>
          <p:nvPr/>
        </p:nvCxnSpPr>
        <p:spPr>
          <a:xfrm>
            <a:off x="7132320" y="2377440"/>
            <a:ext cx="3200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cxnSp>
        <p:nvCxnSpPr>
          <p:cNvPr id="309" name="Arrow 4"/>
          <p:cNvCxnSpPr/>
          <p:nvPr/>
        </p:nvCxnSpPr>
        <p:spPr>
          <a:xfrm>
            <a:off x="9281160" y="2377440"/>
            <a:ext cx="320040" cy="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  <p:sp>
        <p:nvSpPr>
          <p:cNvPr id="310" name="Output"/>
          <p:cNvSpPr/>
          <p:nvPr/>
        </p:nvSpPr>
        <p:spPr>
          <a:xfrm>
            <a:off x="7452360" y="3931920"/>
            <a:ext cx="3977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9AAA3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800" b="1" dirty="0">
                <a:solidFill>
                  <a:srgbClr val="2B2B25"/>
                </a:solidFill>
                <a:latin typeface="Times New Roman"/>
                <a:cs typeface="Times New Roman"/>
              </a:rPr>
              <a:t>Class + probability + heatmap</a:t>
            </a:r>
          </a:p>
        </p:txBody>
      </p:sp>
      <p:cxnSp>
        <p:nvCxnSpPr>
          <p:cNvPr id="311" name="Grad-CAM to Output"/>
          <p:cNvCxnSpPr/>
          <p:nvPr/>
        </p:nvCxnSpPr>
        <p:spPr>
          <a:xfrm>
            <a:off x="10515600" y="3108960"/>
            <a:ext cx="0" cy="822960"/>
          </a:xfrm>
          <a:prstGeom prst="line">
            <a:avLst/>
          </a:prstGeom>
          <a:ln w="22225">
            <a:solidFill>
              <a:srgbClr val="8C8D86"/>
            </a:solidFill>
            <a:rou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0785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1873A-4F6E-89C7-4DF0-54DF78D8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42" y="233019"/>
            <a:ext cx="9714451" cy="800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System Architecture diagram" descr="System Architecture diagram of the chest X-ray classification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100000"/>
            <a:ext cx="3877056" cy="5550000"/>
          </a:xfrm>
          <a:prstGeom prst="rect">
            <a:avLst/>
          </a:prstGeom>
          <a:ln w="12700">
            <a:solidFill>
              <a:srgbClr val="A9AAA3"/>
            </a:solidFill>
          </a:ln>
        </p:spPr>
      </p:pic>
    </p:spTree>
    <p:extLst>
      <p:ext uri="{BB962C8B-B14F-4D97-AF65-F5344CB8AC3E}">
        <p14:creationId xmlns:p14="http://schemas.microsoft.com/office/powerpoint/2010/main" val="31936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1873A-4F6E-89C7-4DF0-54DF78D8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42" y="233019"/>
            <a:ext cx="9714451" cy="800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System Flowchart diagram" descr="System Flowchart diagram of the chest X-ray classification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280" y="779960"/>
            <a:ext cx="2322711" cy="5550000"/>
          </a:xfrm>
          <a:prstGeom prst="rect">
            <a:avLst/>
          </a:prstGeom>
          <a:ln w="12700">
            <a:solidFill>
              <a:srgbClr val="A9AAA3"/>
            </a:solidFill>
          </a:ln>
        </p:spPr>
      </p:pic>
    </p:spTree>
    <p:extLst>
      <p:ext uri="{BB962C8B-B14F-4D97-AF65-F5344CB8AC3E}">
        <p14:creationId xmlns:p14="http://schemas.microsoft.com/office/powerpoint/2010/main" val="31936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1873A-4F6E-89C7-4DF0-54DF78D8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42" y="233019"/>
            <a:ext cx="9714451" cy="800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Design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Behavioural Design diagram" descr="Behavioural Design diagram of the chest X-ray classification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16" y="1100000"/>
            <a:ext cx="3057724" cy="5550000"/>
          </a:xfrm>
          <a:prstGeom prst="rect">
            <a:avLst/>
          </a:prstGeom>
          <a:ln w="12700">
            <a:solidFill>
              <a:srgbClr val="A9AAA3"/>
            </a:solidFill>
          </a:ln>
        </p:spPr>
      </p:pic>
    </p:spTree>
    <p:extLst>
      <p:ext uri="{BB962C8B-B14F-4D97-AF65-F5344CB8AC3E}">
        <p14:creationId xmlns:p14="http://schemas.microsoft.com/office/powerpoint/2010/main" val="31936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1873A-4F6E-89C7-4DF0-54DF78D8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42" y="233019"/>
            <a:ext cx="9714451" cy="800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Data Flow Diagram diagram" descr="Data Flow Diagram diagram of the chest X-ray classification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83" y="1100000"/>
            <a:ext cx="7117435" cy="5550000"/>
          </a:xfrm>
          <a:prstGeom prst="rect">
            <a:avLst/>
          </a:prstGeom>
          <a:ln w="12700">
            <a:solidFill>
              <a:srgbClr val="A9AAA3"/>
            </a:solidFill>
          </a:ln>
        </p:spPr>
      </p:pic>
    </p:spTree>
    <p:extLst>
      <p:ext uri="{BB962C8B-B14F-4D97-AF65-F5344CB8AC3E}">
        <p14:creationId xmlns:p14="http://schemas.microsoft.com/office/powerpoint/2010/main" val="319368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336" y="411480"/>
            <a:ext cx="9601200" cy="1485900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5726" y="1281826"/>
            <a:ext cx="11399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COVID-19 Radiography Database containing chest X-ray images from four classes — COVID-19, Normal, Viral Pneumonia, and Lung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Opacity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collected and prepared for multi-class classification.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1436" y="2487361"/>
            <a:ext cx="111297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structure, class distribution, image dimensions, and class-wise image availability were analyzed. The dataset was balanced to provide suitable samples for model training and evaluation.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1436" y="3777326"/>
            <a:ext cx="1112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chest X-ray images were resized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 pixels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normalized to suitable pixel-value ranges before model 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0016" y="4759514"/>
            <a:ext cx="11061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Lung Segmentation: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U-Net model was implemented to segment the lung regions from chest X-ray images. The segmentation masks were generated and applied to the X-ray images to focus the classification models on the relevant lung regions while reducing irrelevant background information.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69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6F6442-DAFC-93D2-CF19-8BC0C384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420624"/>
            <a:ext cx="9601200" cy="14859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87145" y="714625"/>
            <a:ext cx="1102916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Du and J. Yang, "Classification of Chest X-ray Images (Pneumonia) Based on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Grad-CAM," 2023.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K. U.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Ahamed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"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DTLCx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An Improved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to Classify Normal and Conventional Pneumonia Cases from COVID-19 Instances," Diagnostics, 2023.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Mabrouk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"Pneumonia Detection on Chest X-ray Images Using Ensemble of Deep Convolutional Neural Networks," 2023.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Rabbah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Mohammed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Ridouani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Hassouni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"Improving Pneumonia Diagnosis with High-Accuracy CNN-Based Chest X-ray Image Classification and Integrated Gradient," Biomedical Signal Processing and Control, vol. 101, Art. no. 107239, 2025</a:t>
            </a:r>
            <a:r>
              <a:rPr lang="en-IN" dirty="0"/>
              <a:t>.</a:t>
            </a:r>
            <a:endParaRPr kumimoji="0" lang="en-US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2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1AE7194-2013-352A-8C48-655D60EFF12D}"/>
              </a:ext>
            </a:extLst>
          </p:cNvPr>
          <p:cNvSpPr txBox="1"/>
          <p:nvPr/>
        </p:nvSpPr>
        <p:spPr>
          <a:xfrm>
            <a:off x="4228051" y="2533475"/>
            <a:ext cx="4913851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945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909</Words>
  <Application>Microsoft Office PowerPoint</Application>
  <PresentationFormat>Widescreen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Franklin Gothic Book</vt:lpstr>
      <vt:lpstr>Times New Roman</vt:lpstr>
      <vt:lpstr>Wingdings</vt:lpstr>
      <vt:lpstr>Crop</vt:lpstr>
      <vt:lpstr>Explainable Multi-Class Chest X-Ray Disease Classification Using ConvNeXt And RepViT</vt:lpstr>
      <vt:lpstr>Outline</vt:lpstr>
      <vt:lpstr>Abstract</vt:lpstr>
      <vt:lpstr>Literature Survey</vt:lpstr>
      <vt:lpstr>PowerPoint Presentation</vt:lpstr>
      <vt:lpstr>Existing System The existing system uses hybrid ViT and CNN models, namely MSAF-Net (ViT + EfficientNetB0) and DAR-Net (ViT + ResNet50), to classify chest X-ray images.         </vt:lpstr>
      <vt:lpstr>Proposed System     </vt:lpstr>
      <vt:lpstr>Advantages</vt:lpstr>
      <vt:lpstr>PowerPoint Presentation</vt:lpstr>
      <vt:lpstr>PowerPoint Presentation</vt:lpstr>
      <vt:lpstr>PowerPoint Presentation</vt:lpstr>
      <vt:lpstr>System Architecture</vt:lpstr>
      <vt:lpstr>System Flowchart</vt:lpstr>
      <vt:lpstr>Behavioural Design</vt:lpstr>
      <vt:lpstr>Data Flow Diagram</vt:lpstr>
      <vt:lpstr>Implementation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Ensemble Deep Learning Framework For Pneumonia Detection And Severity Assessment From Chest X-Ray Images</dc:title>
  <dc:creator>DELL</dc:creator>
  <cp:lastModifiedBy>Microsoft account</cp:lastModifiedBy>
  <cp:revision>133</cp:revision>
  <dcterms:modified xsi:type="dcterms:W3CDTF">2026-10-27T13:46:12Z</dcterms:modified>
</cp:coreProperties>
</file>